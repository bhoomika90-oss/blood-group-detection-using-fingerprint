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Bold"/>
      <p:regular r:id="rId201315"/>
    </p:embeddedFont>
    <p:embeddedFont>
      <p:font typeface="Outfit Extra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4766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Biometric Breakthrough: AI‑Driven Blood Group Detection via Fingerprints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0308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Non‑invasive blood typing: combining fingerprint imaging, advanced signal processing, and deep learning to predict ABO and Rh groups instantly at the point of care.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7270"/>
            <a:ext cx="6296860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Biological Foundation: Why Fingerprints?</a:t>
            </a:r>
            <a:endParaRPr lang="en-US" sz="2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558627"/>
            <a:ext cx="406092" cy="4061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3360" y="2139156"/>
            <a:ext cx="629686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Developmental Origin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5233360" y="2476698"/>
            <a:ext cx="629686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Ridge patterns form by 7 months gestation and reflect micro‑environmental influences, producing stable, lifelong structure.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238996"/>
            <a:ext cx="406092" cy="4061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33360" y="3819525"/>
            <a:ext cx="629686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Microstructure Signals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5233360" y="4157067"/>
            <a:ext cx="629686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Fine-scale skin features (pores, ridge width, sweat duct openings) may carry biochemical traces correlated with systemic markers.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919365"/>
            <a:ext cx="406092" cy="4061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33360" y="5499894"/>
            <a:ext cx="629686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Diagnostic Potential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5233360" y="5837436"/>
            <a:ext cx="629686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Finger skin is vascularized and interacts with interstitial fluids—opening the possibility of non‑blood invasive biomarkers detectable visually or spectrally.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085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Traditional Sensing: From Ink to Silicon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10110"/>
            <a:ext cx="4070744" cy="299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2176859"/>
            <a:ext cx="694632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Fingerprint capture has evolved through distinct generations: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199726" y="2649339"/>
            <a:ext cx="6336745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Ink &amp; paper: archival but low resolution and dirty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Optical sensors: high‑resolution images, sensitive to moisture and debris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Capacitive sensors: compact, reliable for minutiae detection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Ultrasound &amp; multispectral: penetrates surface noise for sub‑surface features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199726" y="4832152"/>
            <a:ext cx="6336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Emerging touchless and sweep sensors reduce contamination and improve repeatability—critical for diagnostic extraction.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56618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Diagnostic Gap: Why Blood Group Matters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61475" y="2585045"/>
            <a:ext cx="1972915" cy="2916337"/>
          </a:xfrm>
          <a:prstGeom prst="roundRect">
            <a:avLst>
              <a:gd name="adj" fmla="val 4024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780407"/>
            <a:ext cx="15822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Critical Needs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3189089"/>
            <a:ext cx="158220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Rapid blood group info saves lives in trauma, transfusion, and surgery where minutes matter.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2823397" y="2585045"/>
            <a:ext cx="1972915" cy="2916337"/>
          </a:xfrm>
          <a:prstGeom prst="roundRect">
            <a:avLst>
              <a:gd name="adj" fmla="val 4024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8754" y="2780407"/>
            <a:ext cx="15822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Current Limitations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018754" y="3484364"/>
            <a:ext cx="158220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Standard serology is invasive, requires lab infrastructure, and introduces delays.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985320" y="2585045"/>
            <a:ext cx="1972915" cy="2916337"/>
          </a:xfrm>
          <a:prstGeom prst="roundRect">
            <a:avLst>
              <a:gd name="adj" fmla="val 4024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80677" y="2780407"/>
            <a:ext cx="15822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Opportunity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180677" y="3189089"/>
            <a:ext cx="1582202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portable, non‑invasive approach reduces time‑to‑treatment and expands care to low‑resource settings.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35138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AI Revolution: Bridging Biometrics and Hematology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296356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Machine learning uncovers subtle correlations beyond human perception. By mapping high‑dimensional fingerprint features to antigenic profiles, AI transforms fingerprints from identity tokens into diagnostic sensors.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4083447"/>
            <a:ext cx="629686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Supervised classification on labeled fingerprint–bloodgroup pairs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Feature fusion: combining texture, pore distribution, and spectral cues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Explainability: saliency maps to highlight predictive regions on the print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813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Technical Architecture: How the System Works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14873"/>
            <a:ext cx="4700668" cy="27421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4361" y="1203226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714361" y="1425079"/>
            <a:ext cx="5822110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6" name="Text 3"/>
          <p:cNvSpPr/>
          <p:nvPr/>
        </p:nvSpPr>
        <p:spPr>
          <a:xfrm>
            <a:off x="5714361" y="1534021"/>
            <a:ext cx="5822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1. Acquisition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714361" y="1861741"/>
            <a:ext cx="582211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High‑resolution optical/capacitive capture, optional multispectral imaging to reveal sub-surface info.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4361" y="2471142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14361" y="2692995"/>
            <a:ext cx="5822110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0" name="Text 7"/>
          <p:cNvSpPr/>
          <p:nvPr/>
        </p:nvSpPr>
        <p:spPr>
          <a:xfrm>
            <a:off x="5714361" y="2801938"/>
            <a:ext cx="5822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2. Pre‑processing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714361" y="3129657"/>
            <a:ext cx="582211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Registration, mosaicking for large-area scans, normalization, and denoising to stabilize inputs.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4361" y="3739059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14361" y="3960912"/>
            <a:ext cx="5822110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4" name="Text 11"/>
          <p:cNvSpPr/>
          <p:nvPr/>
        </p:nvSpPr>
        <p:spPr>
          <a:xfrm>
            <a:off x="5714361" y="4069854"/>
            <a:ext cx="5822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3. Feature Extraction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714361" y="4397573"/>
            <a:ext cx="582211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Global ridge-flow, minutiae sets, pore distribution, and texture descriptors; optional spectral channel features.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14361" y="5006975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14361" y="5228828"/>
            <a:ext cx="5822110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8" name="Text 15"/>
          <p:cNvSpPr/>
          <p:nvPr/>
        </p:nvSpPr>
        <p:spPr>
          <a:xfrm>
            <a:off x="5714361" y="5337770"/>
            <a:ext cx="5822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4. Classification &amp; Output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714361" y="5665490"/>
            <a:ext cx="582211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Ensemble deep models produce blood group probabilities with confidence intervals and uncertainty flags.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48432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AI Engine: Pattern Recognition and Classification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217685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 strategies to improve robustness and reliability: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2691904"/>
            <a:ext cx="6296860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Convolutional backbones with multi‑branch heads for texture and minutiae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Synthetic augmentation: pressure, rotation, skin condition, lighting variance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Uncertainty estimation: Bayesian layers and calibrated probabilities to flag low‑confidence reads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851202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D7D2F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511889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5087441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Key: prioritize model interpretability and rigorous validation against serology before clinical use.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293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Performance and Reliability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10804"/>
            <a:ext cx="6905849" cy="45761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7489" y="1438970"/>
            <a:ext cx="41186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Evaluation must mirror clinical standards: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27489" y="1899047"/>
            <a:ext cx="3509081" cy="219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Benchmark against gold‑standard serology with blinded trials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Report sensitivity, specificity, positive predictive value, and confidence intervals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Mitigate failure modes: poor scans, skin contaminants, and device drift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27489" y="4258965"/>
            <a:ext cx="41186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Security &amp; ethics: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027489" y="4719042"/>
            <a:ext cx="3509081" cy="1540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Anti‑spoofing (liveness checks) and secure on‑device models to protect privacy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Consent, data minimization, and transparent reporting of limits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9567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Real‑World Impact: The Future of Point‑of‑Care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46177"/>
            <a:ext cx="1004962" cy="1256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2746177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Emergency Response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02670" y="3450134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Instant blood type at the scene shortens time to transfusion and improves triage decisions.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746177"/>
            <a:ext cx="1004962" cy="1256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330" y="2746177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Low‑Resource Settings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604330" y="3450134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Reduced lab dependence lowers costs and expands access to safe transfusion practices.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746177"/>
            <a:ext cx="1004962" cy="12562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2746177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Disaster &amp; Public Health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05990" y="3450134"/>
            <a:ext cx="22242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Scalable deployments in mass‑casualty or epidemic scenarios improve rapid decision making.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75990"/>
            <a:ext cx="6296860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Next Era: Seamless Diagnostic Integration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233360" y="1303933"/>
            <a:ext cx="6906444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Roadmap highlights and call to action: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632942"/>
            <a:ext cx="2025103" cy="20785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58999" y="1741488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397067" y="2211685"/>
            <a:ext cx="169769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1. Clinical Validation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397067" y="2504182"/>
            <a:ext cx="1697690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Large multicenter trials to quantify accuracy across populations and skin types.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9189" y="1632942"/>
            <a:ext cx="2025103" cy="20785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94827" y="1741488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532896" y="2211685"/>
            <a:ext cx="169769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2. Regulatory Pathways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7532896" y="2730202"/>
            <a:ext cx="1697690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Engage with regulators early to define evidence and post‑market surveillance requirements.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5018" y="1632942"/>
            <a:ext cx="2025202" cy="20785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30755" y="1741488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9668725" y="2211685"/>
            <a:ext cx="169778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3. Productization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9668725" y="2504182"/>
            <a:ext cx="1697789" cy="1021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Integrate touchless 3D scanners, on‑device AI, and privacy‑first data handling for broad adoption.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3822204"/>
            <a:ext cx="6296860" cy="14437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94926" y="3930749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5397067" y="4400947"/>
            <a:ext cx="596944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4. Partnership &amp; Investment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5397067" y="4693444"/>
            <a:ext cx="5969446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Collaborate with hospitals, NGOs, and device manufacturers to scale deployments responsibly.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5233360" y="5390555"/>
            <a:ext cx="6296860" cy="691455"/>
          </a:xfrm>
          <a:prstGeom prst="roundRect">
            <a:avLst>
              <a:gd name="adj" fmla="val 8790"/>
            </a:avLst>
          </a:prstGeom>
          <a:solidFill>
            <a:srgbClr val="D7D2F9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8018" y="5550495"/>
            <a:ext cx="180871" cy="14466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703546" y="5537398"/>
            <a:ext cx="5682016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Call to Action: Fund rigorous validation and responsible deployment to unlock safe, non‑invasive blood typing at scale.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2026-09-22T13:38:28Z</dcterms:created>
  <dcterms:modified xsi:type="dcterms:W3CDTF">2026-09-22T13:38:28Z</dcterms:modified>
</cp:coreProperties>
</file>